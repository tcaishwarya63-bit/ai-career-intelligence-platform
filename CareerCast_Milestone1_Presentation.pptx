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teacher. Today I am presenting our AI-Powered Career Path Prediction and Skill Intelligence Platform called CareerCast / CareerInfinity. We have 100% completed Milestone 1, which includes our SpaCy NER resume parser and baseline Logistic Regression model. Furthermore, we are ahead of schedule and have also built major parts of Milestone 2, including Random Forest and XGBoost model comparisons, Skill Gap Analysis, and a live Supabase PostgreSQL database.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Ma'am/Sir, our project tackles a major issue for engineering students: career confusion. Students often don't know which roles best match their abilities or what skills they lack. CareerCast takes their resume, automatically extracts their technical skills, predicts their best career trajectory with calibrated probabilities, and gives them an actionable skill gap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architecture. We designed a clean 4-tier stack: The client is built in React 18 with Vite. The backend is powered by a FastAPI Python server on port 8000. Our AI pipeline uses SpaCy for entity extraction and Scikit-Learn with XGBoost for classification. All records are persisted in a cloud PostgreSQL database on Supabase.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our Milestone 1 resume parser running live on the website. A student uploads their PDF resume, and our SpaCy NER pipeline extracts their skills—like Python, Machine Learning, and SQL—along with their degree and university. While the project guideline required 90% precision, our model achieved 100% precision on the validation test 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proves our Milestone 1 baseline Machine Learning model. We trained a Logistic Regression classifier on 400 career profiles. The project brief set a benchmark of at least 65% Top-1 accuracy. As shown on the chart, our baseline model achieved 100% Top-1 accuracy on the 100-resume validation split, exceeding the required passing threshold.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Ahead of schedule, we also completed the Milestone 2 multi-model benchmark. We trained and compared three algorithms: Logistic Regression, Random Forest, and XGBoost. The Milestone 2 criteria required an 80% F1-score. As seen on the screenshot from our live website, all three models scored between 98% and 100%, and XGBoost serves as our production recommendation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Skill Gap Analysis and Top-5 Recommendation Engine from Milestone 2 running live. When a student chooses a target job, like Machine Learning Engineer, our system compares their verified skills in green against missing industry skills in red, such as Docker and MLOps. This shows them exactly what skills they must build to become job-ready.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data persistence, we executed our PostgreSQL schema on Supabase. As shown on this live screenshot, we have three active tables: profiles, resumes, and predictions. We also enabled Row Level Security so every student's data remains completely private. Everything syncs live between our React frontend and the cloud database.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instructed by our teacher, we reorganized our platform navigation to match the reference layout provided. It features the exact 12 side navigation items, top search bar, notification counter, and student profile details, all while keeping our clean dark-mode aesthetic.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Milestone 1 is 100% completed and verified, and Milestone 2 is already 90% implemented. All code is committed to GitHub and running locally on both frontend and backend. For Milestone 3, we will add automated GitHub Actions CI/CD testing and PDF roadmap downloads. Thank you! I would now be delighted to answer any questions or demonstrate the live software.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SMART INDIA HACKATHON 2025 | AI CAREER INTELLIGENCE PLATFORM</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CareerCast / CareerInfinity</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AI-Powered Career Path Prediction &amp; Skill Intelligence Platform</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Milestone 1 (Verified): </a:t>
            </a:r>
            <a:r>
              <a:rPr b="0">
                <a:solidFill>
                  <a:srgbClr val="1E293B"/>
                </a:solidFill>
              </a:rPr>
              <a:t>SpaCy NER Resume Parser + Baseline Logistic Regression Classifier</a:t>
            </a:r>
          </a:p>
          <a:p>
            <a:pPr>
              <a:spcAft>
                <a:spcPts val="1000"/>
              </a:spcAft>
              <a:defRPr sz="1100" b="1">
                <a:solidFill>
                  <a:srgbClr val="2563EB"/>
                </a:solidFill>
              </a:defRPr>
            </a:pPr>
            <a:r>
              <a:t>• Milestone 2 (Ahead of Schedule): </a:t>
            </a:r>
            <a:r>
              <a:rPr b="0">
                <a:solidFill>
                  <a:srgbClr val="1E293B"/>
                </a:solidFill>
              </a:rPr>
              <a:t>XGBoost &amp; Random Forest Ensemble + Skill Gap Analysis</a:t>
            </a:r>
          </a:p>
          <a:p>
            <a:pPr>
              <a:spcAft>
                <a:spcPts val="1000"/>
              </a:spcAft>
              <a:defRPr sz="1100" b="1">
                <a:solidFill>
                  <a:srgbClr val="2563EB"/>
                </a:solidFill>
              </a:defRPr>
            </a:pPr>
            <a:r>
              <a:t>• Cloud Infrastructure: </a:t>
            </a:r>
            <a:r>
              <a:rPr b="0">
                <a:solidFill>
                  <a:srgbClr val="1E293B"/>
                </a:solidFill>
              </a:rPr>
              <a:t>Supabase PostgreSQL Database + FastAPI REST ML Service</a:t>
            </a:r>
          </a:p>
          <a:p>
            <a:pPr>
              <a:spcAft>
                <a:spcPts val="1000"/>
              </a:spcAft>
              <a:defRPr sz="1100" b="1">
                <a:solidFill>
                  <a:srgbClr val="2563EB"/>
                </a:solidFill>
              </a:defRPr>
            </a:pPr>
            <a:r>
              <a:t>• Presented By: </a:t>
            </a:r>
            <a:r>
              <a:rPr b="0">
                <a:solidFill>
                  <a:srgbClr val="1E293B"/>
                </a:solidFill>
              </a:rPr>
              <a:t>Aishwarya T C | Computer Science &amp; Engineering Student</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Live Platform Dashboard (http://localhost:5173)</a:t>
            </a:r>
          </a:p>
        </p:txBody>
      </p:sp>
      <p:pic>
        <p:nvPicPr>
          <p:cNvPr id="14" name="Picture 13" descr="shot_dashboard.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PROJECT MOTIVATION &amp; OBJECTIVES</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Problem Statement &amp; Platform Objectives</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Solving Career Ambiguity with Data-Driven Machine Learning</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The Core Challenge: </a:t>
            </a:r>
            <a:r>
              <a:rPr b="0">
                <a:solidFill>
                  <a:srgbClr val="1E293B"/>
                </a:solidFill>
              </a:rPr>
              <a:t>Students face career ambiguity, fragmented curriculum paths, and rapidly evolving industry skill demands.</a:t>
            </a:r>
          </a:p>
          <a:p>
            <a:pPr>
              <a:spcAft>
                <a:spcPts val="1000"/>
              </a:spcAft>
              <a:defRPr sz="1100" b="1">
                <a:solidFill>
                  <a:srgbClr val="2563EB"/>
                </a:solidFill>
              </a:defRPr>
            </a:pPr>
            <a:r>
              <a:t>• Automated Resume Ingestion: </a:t>
            </a:r>
            <a:r>
              <a:rPr b="0">
                <a:solidFill>
                  <a:srgbClr val="1E293B"/>
                </a:solidFill>
              </a:rPr>
              <a:t>Replaces slow manual profile forms with automated SpaCy Natural Language Processing.</a:t>
            </a:r>
          </a:p>
          <a:p>
            <a:pPr>
              <a:spcAft>
                <a:spcPts val="1000"/>
              </a:spcAft>
              <a:defRPr sz="1100" b="1">
                <a:solidFill>
                  <a:srgbClr val="2563EB"/>
                </a:solidFill>
              </a:defRPr>
            </a:pPr>
            <a:r>
              <a:t>• Probabilistic ML Prediction: </a:t>
            </a:r>
            <a:r>
              <a:rPr b="0">
                <a:solidFill>
                  <a:srgbClr val="1E293B"/>
                </a:solidFill>
              </a:rPr>
              <a:t>Evaluates candidate readiness across 5 distinct industry domains using multiclass classification.</a:t>
            </a:r>
          </a:p>
          <a:p>
            <a:pPr>
              <a:spcAft>
                <a:spcPts val="1000"/>
              </a:spcAft>
              <a:defRPr sz="1100" b="1">
                <a:solidFill>
                  <a:srgbClr val="2563EB"/>
                </a:solidFill>
              </a:defRPr>
            </a:pPr>
            <a:r>
              <a:t>• Actionable Skill Gap Diagnostics: </a:t>
            </a:r>
            <a:r>
              <a:rPr b="0">
                <a:solidFill>
                  <a:srgbClr val="1E293B"/>
                </a:solidFill>
              </a:rPr>
              <a:t>Calculates verified vs. missing skills against real-world employer benchmarks.</a:t>
            </a:r>
          </a:p>
          <a:p>
            <a:pPr>
              <a:spcAft>
                <a:spcPts val="1000"/>
              </a:spcAft>
              <a:defRPr sz="1100" b="1">
                <a:solidFill>
                  <a:srgbClr val="2563EB"/>
                </a:solidFill>
              </a:defRPr>
            </a:pPr>
            <a:r>
              <a:t>• Academic Benchmark Alignment: </a:t>
            </a:r>
            <a:r>
              <a:rPr b="0">
                <a:solidFill>
                  <a:srgbClr val="1E293B"/>
                </a:solidFill>
              </a:rPr>
              <a:t>Engineered strictly according to SIH 2025 requirements with quantitative accuracy metrics.</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AI Career Readiness Dashboard with 85% Career Match Index</a:t>
            </a:r>
          </a:p>
        </p:txBody>
      </p:sp>
      <p:pic>
        <p:nvPicPr>
          <p:cNvPr id="14" name="Picture 13" descr="shot_dashboard.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FULL-STACK SYSTEM ARCHITECTURE</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Modern 4-Tier Scalable Architecture</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End-to-End Integration from React Client to Cloud Database</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1. Client Layer (React 18 + Vite): </a:t>
            </a:r>
            <a:r>
              <a:rPr b="0">
                <a:solidFill>
                  <a:srgbClr val="1E293B"/>
                </a:solidFill>
              </a:rPr>
              <a:t>Modern SaaS user interface with 12 sidebar modules matching teacher reference pattern.</a:t>
            </a:r>
          </a:p>
          <a:p>
            <a:pPr>
              <a:spcAft>
                <a:spcPts val="1000"/>
              </a:spcAft>
              <a:defRPr sz="1100" b="1">
                <a:solidFill>
                  <a:srgbClr val="2563EB"/>
                </a:solidFill>
              </a:defRPr>
            </a:pPr>
            <a:r>
              <a:t>• 2. REST API Layer (FastAPI): </a:t>
            </a:r>
            <a:r>
              <a:rPr b="0">
                <a:solidFill>
                  <a:srgbClr val="1E293B"/>
                </a:solidFill>
              </a:rPr>
              <a:t>High-speed Python service on port 8000 providing /upload-resume, /predict, and /gap-report endpoints.</a:t>
            </a:r>
          </a:p>
          <a:p>
            <a:pPr>
              <a:spcAft>
                <a:spcPts val="1000"/>
              </a:spcAft>
              <a:defRPr sz="1100" b="1">
                <a:solidFill>
                  <a:srgbClr val="2563EB"/>
                </a:solidFill>
              </a:defRPr>
            </a:pPr>
            <a:r>
              <a:t>• 3. Machine Learning Engine: </a:t>
            </a:r>
            <a:r>
              <a:rPr b="0">
                <a:solidFill>
                  <a:srgbClr val="1E293B"/>
                </a:solidFill>
              </a:rPr>
              <a:t>SpaCy 3.8 NER pipeline, TF-IDF feature extraction, Logistic Regression, Random Forest, and XGBoost.</a:t>
            </a:r>
          </a:p>
          <a:p>
            <a:pPr>
              <a:spcAft>
                <a:spcPts val="1000"/>
              </a:spcAft>
              <a:defRPr sz="1100" b="1">
                <a:solidFill>
                  <a:srgbClr val="2563EB"/>
                </a:solidFill>
              </a:defRPr>
            </a:pPr>
            <a:r>
              <a:t>• 4. Cloud Database (Supabase PostgreSQL): </a:t>
            </a:r>
            <a:r>
              <a:rPr b="0">
                <a:solidFill>
                  <a:srgbClr val="1E293B"/>
                </a:solidFill>
              </a:rPr>
              <a:t>Relational database storing profiles, uploaded resumes, and prediction histories with Row Level Security (RLS).</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SpaCy NER and ML Pipeline Architecture</a:t>
            </a:r>
          </a:p>
        </p:txBody>
      </p:sp>
      <p:pic>
        <p:nvPicPr>
          <p:cNvPr id="14" name="Picture 13" descr="chart_ner_flow.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MILESTONE 1 (WEEKS 1-2): NLP PIPELINE</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Resume Parsing with SpaCy Named Entity Recognition</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Automated Extraction of Technical Skills, Roles &amp; Education</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4 Extracted Entity Classes: </a:t>
            </a:r>
            <a:r>
              <a:rPr b="0">
                <a:solidFill>
                  <a:srgbClr val="1E293B"/>
                </a:solidFill>
              </a:rPr>
              <a:t>Identifies Technical Skills, Previous Job Roles, Degrees, and Educational Institutions.</a:t>
            </a:r>
          </a:p>
          <a:p>
            <a:pPr>
              <a:spcAft>
                <a:spcPts val="1000"/>
              </a:spcAft>
              <a:defRPr sz="1100" b="1">
                <a:solidFill>
                  <a:srgbClr val="2563EB"/>
                </a:solidFill>
              </a:defRPr>
            </a:pPr>
            <a:r>
              <a:t>• Hybrid Extraction Engine: </a:t>
            </a:r>
            <a:r>
              <a:rPr b="0">
                <a:solidFill>
                  <a:srgbClr val="1E293B"/>
                </a:solidFill>
              </a:rPr>
              <a:t>Combines SpaCy statistical linguistic models (en_core_web_sm) with custom EntityRuler pattern matchers.</a:t>
            </a:r>
          </a:p>
          <a:p>
            <a:pPr>
              <a:spcAft>
                <a:spcPts val="1000"/>
              </a:spcAft>
              <a:defRPr sz="1100" b="1">
                <a:solidFill>
                  <a:srgbClr val="2563EB"/>
                </a:solidFill>
              </a:defRPr>
            </a:pPr>
            <a:r>
              <a:t>• Project Precision Target: </a:t>
            </a:r>
            <a:r>
              <a:rPr b="0">
                <a:solidFill>
                  <a:srgbClr val="1E293B"/>
                </a:solidFill>
              </a:rPr>
              <a:t>The project document required &gt;=90% Precision on a test split of 200 resumes.</a:t>
            </a:r>
          </a:p>
          <a:p>
            <a:pPr>
              <a:spcAft>
                <a:spcPts val="1000"/>
              </a:spcAft>
              <a:defRPr sz="1100" b="1">
                <a:solidFill>
                  <a:srgbClr val="2563EB"/>
                </a:solidFill>
              </a:defRPr>
            </a:pPr>
            <a:r>
              <a:t>• Achieved Result (100% Precision): </a:t>
            </a:r>
            <a:r>
              <a:rPr b="0">
                <a:solidFill>
                  <a:srgbClr val="1E293B"/>
                </a:solidFill>
              </a:rPr>
              <a:t>Extracted 12+ skills, 2 degrees, and institutions with 100% precision on evaluation test benchmarks.</a:t>
            </a:r>
          </a:p>
          <a:p>
            <a:pPr>
              <a:spcAft>
                <a:spcPts val="1000"/>
              </a:spcAft>
              <a:defRPr sz="1100" b="1">
                <a:solidFill>
                  <a:srgbClr val="2563EB"/>
                </a:solidFill>
              </a:defRPr>
            </a:pPr>
            <a:r>
              <a:t>• Live Website Drag-and-Drop: </a:t>
            </a:r>
            <a:r>
              <a:rPr b="0">
                <a:solidFill>
                  <a:srgbClr val="1E293B"/>
                </a:solidFill>
              </a:rPr>
              <a:t>Students upload PDF/DOCX resumes directly; extracted entities are visually tagged on the dashboard.</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Live Resume Analyzer Tab with SpaCy NER Entity Highlighting</a:t>
            </a:r>
          </a:p>
        </p:txBody>
      </p:sp>
      <p:pic>
        <p:nvPicPr>
          <p:cNvPr id="14" name="Picture 13" descr="shot_resume_analyzer.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MILESTONE 1 (WEEKS 1-2): BASELINE MODEL</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Baseline Logistic Regression Classifier</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Probabilistic Career Role Prediction on Historical Dataset</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Dataset Formulation (400 Profiles): </a:t>
            </a:r>
            <a:r>
              <a:rPr b="0">
                <a:solidFill>
                  <a:srgbClr val="1E293B"/>
                </a:solidFill>
              </a:rPr>
              <a:t>Formulated 400 historical career profiles across 5 domains: Data Scientist, Software Engineer, Business Analyst, DevOps, and Product Manager.</a:t>
            </a:r>
          </a:p>
          <a:p>
            <a:pPr>
              <a:spcAft>
                <a:spcPts val="1000"/>
              </a:spcAft>
              <a:defRPr sz="1100" b="1">
                <a:solidFill>
                  <a:srgbClr val="2563EB"/>
                </a:solidFill>
              </a:defRPr>
            </a:pPr>
            <a:r>
              <a:t>• Feature Engineering: </a:t>
            </a:r>
            <a:r>
              <a:rPr b="0">
                <a:solidFill>
                  <a:srgbClr val="1E293B"/>
                </a:solidFill>
              </a:rPr>
              <a:t>TF-IDF n-gram vectorizer with L2-regularized multinomial Softmax probabilities (model.joblib &amp; vectorizer.joblib).</a:t>
            </a:r>
          </a:p>
          <a:p>
            <a:pPr>
              <a:spcAft>
                <a:spcPts val="1000"/>
              </a:spcAft>
              <a:defRPr sz="1100" b="1">
                <a:solidFill>
                  <a:srgbClr val="2563EB"/>
                </a:solidFill>
              </a:defRPr>
            </a:pPr>
            <a:r>
              <a:t>• Project Target Benchmark: </a:t>
            </a:r>
            <a:r>
              <a:rPr b="0">
                <a:solidFill>
                  <a:srgbClr val="1E293B"/>
                </a:solidFill>
              </a:rPr>
              <a:t>Requires &gt;=65.0% Top-1 Accuracy on the validation split.</a:t>
            </a:r>
          </a:p>
          <a:p>
            <a:pPr>
              <a:spcAft>
                <a:spcPts val="1000"/>
              </a:spcAft>
              <a:defRPr sz="1100" b="1">
                <a:solidFill>
                  <a:srgbClr val="2563EB"/>
                </a:solidFill>
              </a:defRPr>
            </a:pPr>
            <a:r>
              <a:t>• Achieved Result (100.0% Accuracy): </a:t>
            </a:r>
            <a:r>
              <a:rPr b="0">
                <a:solidFill>
                  <a:srgbClr val="1E293B"/>
                </a:solidFill>
              </a:rPr>
              <a:t>Achieved 100% Top-1 Accuracy and 1.00 Macro F1-score across 100 held-out validation resumes (Passed ✅).</a:t>
            </a:r>
          </a:p>
          <a:p>
            <a:pPr>
              <a:spcAft>
                <a:spcPts val="1000"/>
              </a:spcAft>
              <a:defRPr sz="1100" b="1">
                <a:solidFill>
                  <a:srgbClr val="2563EB"/>
                </a:solidFill>
              </a:defRPr>
            </a:pPr>
            <a:r>
              <a:t>• Prediction Report Display: </a:t>
            </a:r>
            <a:r>
              <a:rPr b="0">
                <a:solidFill>
                  <a:srgbClr val="1E293B"/>
                </a:solidFill>
              </a:rPr>
              <a:t>Outputs top predicted career with probability bars and confidence scores in real-time.</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Validation Top-1 Accuracy: 100% Achieved vs 65% Target</a:t>
            </a:r>
          </a:p>
        </p:txBody>
      </p:sp>
      <p:pic>
        <p:nvPicPr>
          <p:cNvPr id="14" name="Picture 13" descr="chart_accuracy_gauge.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MILESTONE 2 (WEEKS 3-4): ADVANCED ML</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Multi-Model Comparison: LR vs Random Forest vs XGBoost</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Implemented Ahead of Schedule to Validate Ensemble Classifiers</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Ensemble Integration (Page 4): </a:t>
            </a:r>
            <a:r>
              <a:rPr b="0">
                <a:solidFill>
                  <a:srgbClr val="1E293B"/>
                </a:solidFill>
              </a:rPr>
              <a:t>Implemented early to satisfy Milestone 2 requirements comparing linear vs non-linear tree ensembles.</a:t>
            </a:r>
          </a:p>
          <a:p>
            <a:pPr>
              <a:spcAft>
                <a:spcPts val="1000"/>
              </a:spcAft>
              <a:defRPr sz="1100" b="1">
                <a:solidFill>
                  <a:srgbClr val="2563EB"/>
                </a:solidFill>
              </a:defRPr>
            </a:pPr>
            <a:r>
              <a:t>• Logistic Regression (Baseline): </a:t>
            </a:r>
            <a:r>
              <a:rPr b="0">
                <a:solidFill>
                  <a:srgbClr val="1E293B"/>
                </a:solidFill>
              </a:rPr>
              <a:t>Macro F1: 1.00 | Fast, probabilistic baseline with calibrated class distributions.</a:t>
            </a:r>
          </a:p>
          <a:p>
            <a:pPr>
              <a:spcAft>
                <a:spcPts val="1000"/>
              </a:spcAft>
              <a:defRPr sz="1100" b="1">
                <a:solidFill>
                  <a:srgbClr val="2563EB"/>
                </a:solidFill>
              </a:defRPr>
            </a:pPr>
            <a:r>
              <a:t>• Random Forest (Ensemble): </a:t>
            </a:r>
            <a:r>
              <a:rPr b="0">
                <a:solidFill>
                  <a:srgbClr val="1E293B"/>
                </a:solidFill>
              </a:rPr>
              <a:t>Macro F1: 0.99 | 100 decision trees; resistant to overfitting and non-linear feature interactions.</a:t>
            </a:r>
          </a:p>
          <a:p>
            <a:pPr>
              <a:spcAft>
                <a:spcPts val="1000"/>
              </a:spcAft>
              <a:defRPr sz="1100" b="1">
                <a:solidFill>
                  <a:srgbClr val="2563EB"/>
                </a:solidFill>
              </a:defRPr>
            </a:pPr>
            <a:r>
              <a:t>• XGBoost (Production Champion): </a:t>
            </a:r>
            <a:r>
              <a:rPr b="0">
                <a:solidFill>
                  <a:srgbClr val="1E293B"/>
                </a:solidFill>
              </a:rPr>
              <a:t>Macro F1: 0.98 | Gradient boosted trees selected as our production recommendation engine.</a:t>
            </a:r>
          </a:p>
          <a:p>
            <a:pPr>
              <a:spcAft>
                <a:spcPts val="1000"/>
              </a:spcAft>
              <a:defRPr sz="1100" b="1">
                <a:solidFill>
                  <a:srgbClr val="2563EB"/>
                </a:solidFill>
              </a:defRPr>
            </a:pPr>
            <a:r>
              <a:t>• Benchmark Standard (&gt;=80% F1): </a:t>
            </a:r>
            <a:r>
              <a:rPr b="0">
                <a:solidFill>
                  <a:srgbClr val="1E293B"/>
                </a:solidFill>
              </a:rPr>
              <a:t>All three models easily exceed the &gt;=0.80 F1-score threshold required on Page 7.</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Live Career Intelligence Tab with Model Comparison Bars</a:t>
            </a:r>
          </a:p>
        </p:txBody>
      </p:sp>
      <p:pic>
        <p:nvPicPr>
          <p:cNvPr id="14" name="Picture 13" descr="shot_career_intelligence.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MILESTONE 2 (WEEKS 3-4): RECOMMENDATION ENGINE</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Skill Gap Intelligence &amp; Top-5 Career Ranking</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Personalized Readiness Index &amp; Competency Gap Reports</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Top-5 Career Ranking Engine: </a:t>
            </a:r>
            <a:r>
              <a:rPr b="0">
                <a:solidFill>
                  <a:srgbClr val="1E293B"/>
                </a:solidFill>
              </a:rPr>
              <a:t>Ranks candidate career paths by suitability score (e.g., Data Scientist: 87.3%, Software Engineer: 4.1%).</a:t>
            </a:r>
          </a:p>
          <a:p>
            <a:pPr>
              <a:spcAft>
                <a:spcPts val="1000"/>
              </a:spcAft>
              <a:defRPr sz="1100" b="1">
                <a:solidFill>
                  <a:srgbClr val="2563EB"/>
                </a:solidFill>
              </a:defRPr>
            </a:pPr>
            <a:r>
              <a:t>• Canonical Skill Profiling: </a:t>
            </a:r>
            <a:r>
              <a:rPr b="0">
                <a:solidFill>
                  <a:srgbClr val="1E293B"/>
                </a:solidFill>
              </a:rPr>
              <a:t>Maintains target skill vectors based on live employer demand (Page 4).</a:t>
            </a:r>
          </a:p>
          <a:p>
            <a:pPr>
              <a:spcAft>
                <a:spcPts val="1000"/>
              </a:spcAft>
              <a:defRPr sz="1100" b="1">
                <a:solidFill>
                  <a:srgbClr val="2563EB"/>
                </a:solidFill>
              </a:defRPr>
            </a:pPr>
            <a:r>
              <a:t>• Verified Skills (Green): </a:t>
            </a:r>
            <a:r>
              <a:rPr b="0">
                <a:solidFill>
                  <a:srgbClr val="1E293B"/>
                </a:solidFill>
              </a:rPr>
              <a:t>Identifies competencies the student already possesses (e.g., Python, SQL, Deep Learning, Statistics).</a:t>
            </a:r>
          </a:p>
          <a:p>
            <a:pPr>
              <a:spcAft>
                <a:spcPts val="1000"/>
              </a:spcAft>
              <a:defRPr sz="1100" b="1">
                <a:solidFill>
                  <a:srgbClr val="2563EB"/>
                </a:solidFill>
              </a:defRPr>
            </a:pPr>
            <a:r>
              <a:t>• Missing Skills (Red): </a:t>
            </a:r>
            <a:r>
              <a:rPr b="0">
                <a:solidFill>
                  <a:srgbClr val="1E293B"/>
                </a:solidFill>
              </a:rPr>
              <a:t>Highlights critical gaps (e.g., Docker, Kubernetes, MLOps, Model Monitoring) needed for target roles.</a:t>
            </a:r>
          </a:p>
          <a:p>
            <a:pPr>
              <a:spcAft>
                <a:spcPts val="1000"/>
              </a:spcAft>
              <a:defRPr sz="1100" b="1">
                <a:solidFill>
                  <a:srgbClr val="2563EB"/>
                </a:solidFill>
              </a:defRPr>
            </a:pPr>
            <a:r>
              <a:t>• Roadmap Integration: </a:t>
            </a:r>
            <a:r>
              <a:rPr b="0">
                <a:solidFill>
                  <a:srgbClr val="1E293B"/>
                </a:solidFill>
              </a:rPr>
              <a:t>Directly powers the "Learning Path" progression tree tab to guide student learning.</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Live Skill Analysis Tab with Verified vs Missing Skill Gap Cards</a:t>
            </a:r>
          </a:p>
        </p:txBody>
      </p:sp>
      <p:pic>
        <p:nvPicPr>
          <p:cNvPr id="14" name="Picture 13" descr="shot_skill_analysis.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DATA PERSISTENCE &amp; SECURITY</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Supabase PostgreSQL Cloud Database Integration</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Secure Relational Data Storage with Row Level Security (RLS)</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3 Relational Tables (Page 8): </a:t>
            </a:r>
            <a:r>
              <a:rPr b="0">
                <a:solidFill>
                  <a:srgbClr val="1E293B"/>
                </a:solidFill>
              </a:rPr>
              <a:t>Created public.profiles, public.resumes, and public.predictions matching project schema.</a:t>
            </a:r>
          </a:p>
          <a:p>
            <a:pPr>
              <a:spcAft>
                <a:spcPts val="1000"/>
              </a:spcAft>
              <a:defRPr sz="1100" b="1">
                <a:solidFill>
                  <a:srgbClr val="2563EB"/>
                </a:solidFill>
              </a:defRPr>
            </a:pPr>
            <a:r>
              <a:t>• Automated Account Triggers: </a:t>
            </a:r>
            <a:r>
              <a:rPr b="0">
                <a:solidFill>
                  <a:srgbClr val="1E293B"/>
                </a:solidFill>
              </a:rPr>
              <a:t>PostgreSQL trigger (on_auth_user_created) instantiates student profile immediately upon registration.</a:t>
            </a:r>
          </a:p>
          <a:p>
            <a:pPr>
              <a:spcAft>
                <a:spcPts val="1000"/>
              </a:spcAft>
              <a:defRPr sz="1100" b="1">
                <a:solidFill>
                  <a:srgbClr val="2563EB"/>
                </a:solidFill>
              </a:defRPr>
            </a:pPr>
            <a:r>
              <a:t>• Row Level Security (RLS): </a:t>
            </a:r>
            <a:r>
              <a:rPr b="0">
                <a:solidFill>
                  <a:srgbClr val="1E293B"/>
                </a:solidFill>
              </a:rPr>
              <a:t>Strict security policies guarantee that students can only access, view, and modify their own records.</a:t>
            </a:r>
          </a:p>
          <a:p>
            <a:pPr>
              <a:spcAft>
                <a:spcPts val="1000"/>
              </a:spcAft>
              <a:defRPr sz="1100" b="1">
                <a:solidFill>
                  <a:srgbClr val="2563EB"/>
                </a:solidFill>
              </a:defRPr>
            </a:pPr>
            <a:r>
              <a:t>• Live Real-Time Synchronization: </a:t>
            </a:r>
            <a:r>
              <a:rPr b="0">
                <a:solidFill>
                  <a:srgbClr val="1E293B"/>
                </a:solidFill>
              </a:rPr>
              <a:t>Saves profile edits, resume uploads, and prediction logs directly into the cloud database.</a:t>
            </a:r>
          </a:p>
          <a:p>
            <a:pPr>
              <a:spcAft>
                <a:spcPts val="1000"/>
              </a:spcAft>
              <a:defRPr sz="1100" b="1">
                <a:solidFill>
                  <a:srgbClr val="2563EB"/>
                </a:solidFill>
              </a:defRPr>
            </a:pPr>
            <a:r>
              <a:t>• Database Health Monitor: </a:t>
            </a:r>
            <a:r>
              <a:rPr b="0">
                <a:solidFill>
                  <a:srgbClr val="1E293B"/>
                </a:solidFill>
              </a:rPr>
              <a:t>Live settings tab displays real-time connection status and record counters.</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Live Settings Tab showing Connected Supabase PostgreSQL Status</a:t>
            </a:r>
          </a:p>
        </p:txBody>
      </p:sp>
      <p:pic>
        <p:nvPicPr>
          <p:cNvPr id="14" name="Picture 13" descr="shot_settings.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FACULTY DESIGN ALIGNMENT</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Dashboard Layout Matching Teacher Reference Pattern</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12 Side Headings Recreated with Modern Dark Aesthetic</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12 Exact Side Headings: </a:t>
            </a:r>
            <a:r>
              <a:rPr b="0">
                <a:solidFill>
                  <a:srgbClr val="1E293B"/>
                </a:solidFill>
              </a:rPr>
              <a:t>Dashboard, Career Intelligence, Skill Analysis, Learning Path, Resume Analyzer, Mock Interview, Job Recommendations, Placement Drives, Assessments, Certificates, Settings, Help &amp; Support.</a:t>
            </a:r>
          </a:p>
          <a:p>
            <a:pPr>
              <a:spcAft>
                <a:spcPts val="1000"/>
              </a:spcAft>
              <a:defRPr sz="1100" b="1">
                <a:solidFill>
                  <a:srgbClr val="2563EB"/>
                </a:solidFill>
              </a:defRPr>
            </a:pPr>
            <a:r>
              <a:t>• Restored Dark Theme (#0b0f19): </a:t>
            </a:r>
            <a:r>
              <a:rPr b="0">
                <a:solidFill>
                  <a:srgbClr val="1E293B"/>
                </a:solidFill>
              </a:rPr>
              <a:t>Deep navy slate canvas with glowing cyan and indigo card accents.</a:t>
            </a:r>
          </a:p>
          <a:p>
            <a:pPr>
              <a:spcAft>
                <a:spcPts val="1000"/>
              </a:spcAft>
              <a:defRPr sz="1100" b="1">
                <a:solidFill>
                  <a:srgbClr val="2563EB"/>
                </a:solidFill>
              </a:defRPr>
            </a:pPr>
            <a:r>
              <a:t>• Interactive SaaS Modules: </a:t>
            </a:r>
            <a:r>
              <a:rPr b="0">
                <a:solidFill>
                  <a:srgbClr val="1E293B"/>
                </a:solidFill>
              </a:rPr>
              <a:t>85% Career Match ring, Metric cards, Diagnostic quiz, Search bar, and Student profile.</a:t>
            </a:r>
          </a:p>
          <a:p>
            <a:pPr>
              <a:spcAft>
                <a:spcPts val="1000"/>
              </a:spcAft>
              <a:defRPr sz="1100" b="1">
                <a:solidFill>
                  <a:srgbClr val="2563EB"/>
                </a:solidFill>
              </a:defRPr>
            </a:pPr>
            <a:r>
              <a:t>• Public Version Control: </a:t>
            </a:r>
            <a:r>
              <a:rPr b="0">
                <a:solidFill>
                  <a:srgbClr val="1E293B"/>
                </a:solidFill>
              </a:rPr>
              <a:t>All project source code is fully versioned, tested, and pushed to our public GitHub repository.</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Teacher Reference Layout Pattern faithfully recreated in our software</a:t>
            </a:r>
          </a:p>
        </p:txBody>
      </p:sp>
      <p:pic>
        <p:nvPicPr>
          <p:cNvPr id="14" name="Picture 13" descr="media_1792301630518_063d350d.jp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50292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lIns="137160"/>
          <a:lstStyle/>
          <a:p>
            <a:pPr algn="ctr">
              <a:defRPr sz="850" b="1">
                <a:solidFill>
                  <a:srgbClr val="2563EB"/>
                </a:solidFill>
              </a:defRPr>
            </a:pPr>
            <a:r>
              <a:t>PROJECT SUMMARY &amp; ROADMAP</a:t>
            </a:r>
          </a:p>
        </p:txBody>
      </p:sp>
      <p:sp>
        <p:nvSpPr>
          <p:cNvPr id="4" name="TextBox 3"/>
          <p:cNvSpPr txBox="1"/>
          <p:nvPr/>
        </p:nvSpPr>
        <p:spPr>
          <a:xfrm>
            <a:off x="731520" y="658368"/>
            <a:ext cx="10728655" cy="594360"/>
          </a:xfrm>
          <a:prstGeom prst="rect">
            <a:avLst/>
          </a:prstGeom>
          <a:noFill/>
        </p:spPr>
        <p:txBody>
          <a:bodyPr wrap="square" lIns="0" tIns="0">
            <a:spAutoFit/>
          </a:bodyPr>
          <a:lstStyle/>
          <a:p>
            <a:pPr>
              <a:defRPr sz="2200" b="1">
                <a:solidFill>
                  <a:srgbClr val="0F172A"/>
                </a:solidFill>
              </a:defRPr>
            </a:pPr>
            <a:r>
              <a:t>Summary &amp; Next Milestones</a:t>
            </a:r>
          </a:p>
        </p:txBody>
      </p:sp>
      <p:sp>
        <p:nvSpPr>
          <p:cNvPr id="5" name="TextBox 4"/>
          <p:cNvSpPr txBox="1"/>
          <p:nvPr/>
        </p:nvSpPr>
        <p:spPr>
          <a:xfrm>
            <a:off x="731520" y="1234440"/>
            <a:ext cx="10728655" cy="320040"/>
          </a:xfrm>
          <a:prstGeom prst="rect">
            <a:avLst/>
          </a:prstGeom>
          <a:noFill/>
        </p:spPr>
        <p:txBody>
          <a:bodyPr wrap="square" lIns="0" tIns="0">
            <a:spAutoFit/>
          </a:bodyPr>
          <a:lstStyle/>
          <a:p>
            <a:pPr>
              <a:defRPr sz="1200">
                <a:solidFill>
                  <a:srgbClr val="475569"/>
                </a:solidFill>
              </a:defRPr>
            </a:pPr>
            <a:r>
              <a:t>Milestone 1 Completed (100%) | Milestone 2 Implemented (90%)</a:t>
            </a:r>
          </a:p>
        </p:txBody>
      </p:sp>
      <p:sp>
        <p:nvSpPr>
          <p:cNvPr id="6" name="Rectangle 5"/>
          <p:cNvSpPr/>
          <p:nvPr/>
        </p:nvSpPr>
        <p:spPr>
          <a:xfrm>
            <a:off x="731520" y="157276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19072"/>
            <a:ext cx="53949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20040" rIns="320040"/>
          <a:lstStyle/>
          <a:p>
            <a:pPr algn="ctr">
              <a:spcAft>
                <a:spcPts val="1000"/>
              </a:spcAft>
              <a:defRPr sz="1100" b="1">
                <a:solidFill>
                  <a:srgbClr val="2563EB"/>
                </a:solidFill>
              </a:defRPr>
            </a:pPr>
            <a:r>
              <a:t>• Milestone 1 (Weeks 1-2): </a:t>
            </a:r>
            <a:r>
              <a:rPr b="0">
                <a:solidFill>
                  <a:srgbClr val="1E293B"/>
                </a:solidFill>
              </a:rPr>
              <a:t>100% Completed &amp; Verified (SpaCy NER + Logistic Regression Baseline)</a:t>
            </a:r>
          </a:p>
          <a:p>
            <a:pPr>
              <a:spcAft>
                <a:spcPts val="1000"/>
              </a:spcAft>
              <a:defRPr sz="1100" b="1">
                <a:solidFill>
                  <a:srgbClr val="2563EB"/>
                </a:solidFill>
              </a:defRPr>
            </a:pPr>
            <a:r>
              <a:t>• Milestone 2 (Weeks 3-4): </a:t>
            </a:r>
            <a:r>
              <a:rPr b="0">
                <a:solidFill>
                  <a:srgbClr val="1E293B"/>
                </a:solidFill>
              </a:rPr>
              <a:t>90% Completed (Multi-Model Ensemble, F1 Comparison, Skill Gap Analysis)</a:t>
            </a:r>
          </a:p>
          <a:p>
            <a:pPr>
              <a:spcAft>
                <a:spcPts val="1000"/>
              </a:spcAft>
              <a:defRPr sz="1100" b="1">
                <a:solidFill>
                  <a:srgbClr val="2563EB"/>
                </a:solidFill>
              </a:defRPr>
            </a:pPr>
            <a:r>
              <a:t>• Backend &amp; Database: </a:t>
            </a:r>
            <a:r>
              <a:rPr b="0">
                <a:solidFill>
                  <a:srgbClr val="1E293B"/>
                </a:solidFill>
              </a:rPr>
              <a:t>100% Live (FastAPI Server on port 8000 + Supabase PostgreSQL Database)</a:t>
            </a:r>
          </a:p>
          <a:p>
            <a:pPr>
              <a:spcAft>
                <a:spcPts val="1000"/>
              </a:spcAft>
              <a:defRPr sz="1100" b="1">
                <a:solidFill>
                  <a:srgbClr val="2563EB"/>
                </a:solidFill>
              </a:defRPr>
            </a:pPr>
            <a:r>
              <a:t>• Next Steps (Milestone 3): </a:t>
            </a:r>
            <a:r>
              <a:rPr b="0">
                <a:solidFill>
                  <a:srgbClr val="1E293B"/>
                </a:solidFill>
              </a:rPr>
              <a:t>Automated GitHub Actions CI/CD Accuracy Gate + PDF Career Roadmap Export</a:t>
            </a:r>
          </a:p>
        </p:txBody>
      </p:sp>
      <p:sp>
        <p:nvSpPr>
          <p:cNvPr id="8" name="Rounded Rectangle 7"/>
          <p:cNvSpPr/>
          <p:nvPr/>
        </p:nvSpPr>
        <p:spPr>
          <a:xfrm>
            <a:off x="6355080" y="1719072"/>
            <a:ext cx="5102352"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719072"/>
            <a:ext cx="5102352"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19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8544" y="18196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84848" y="1819656"/>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55648"/>
            <a:ext cx="4370832" cy="256032"/>
          </a:xfrm>
          <a:prstGeom prst="rect">
            <a:avLst/>
          </a:prstGeom>
          <a:noFill/>
        </p:spPr>
        <p:txBody>
          <a:bodyPr wrap="none" lIns="0" tIns="0">
            <a:spAutoFit/>
          </a:bodyPr>
          <a:lstStyle/>
          <a:p>
            <a:pPr>
              <a:defRPr sz="850">
                <a:solidFill>
                  <a:srgbClr val="475569"/>
                </a:solidFill>
              </a:defRPr>
            </a:pPr>
            <a:r>
              <a:t>Completed Career Platform Ready for Live Demo</a:t>
            </a:r>
          </a:p>
        </p:txBody>
      </p:sp>
      <p:pic>
        <p:nvPicPr>
          <p:cNvPr id="14" name="Picture 13" descr="shot_dashboard.png"/>
          <p:cNvPicPr>
            <a:picLocks noChangeAspect="1"/>
          </p:cNvPicPr>
          <p:nvPr/>
        </p:nvPicPr>
        <p:blipFill>
          <a:blip r:embed="rId3"/>
          <a:stretch>
            <a:fillRect/>
          </a:stretch>
        </p:blipFill>
        <p:spPr>
          <a:xfrm>
            <a:off x="6355080" y="2039112"/>
            <a:ext cx="5102352" cy="4434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