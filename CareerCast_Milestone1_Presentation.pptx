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teacher. Today, I am proud to present the progress of our AI-Powered Career Intelligence Platform called CareerCast / CareerInfinity. We have 100% completed all requirements for Milestone 1, which includes our SpaCy NER resume parser and baseline Logistic Regression model. In fact, we are ahead of schedule and have also implemented core parts of Milestone 2, including an ensemble of Random Forest and XGBoost, Skill Gap Analysis, and a live Supabase PostgreSQL database.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Ma'am/Sir, our project solves a major real-world challenge: many students don't know what career path best fits their profile or which exact skills they are missing. Our platform takes a student's resume, extracts their skills automatically with AI, predicts their best career fit with probability scores, and tells them exactly what missing skills they need to learn.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system architecture. We built a modern 4-tier stack: The frontend is built in React and Vite. The backend is powered by a FastAPI Python server. The machine learning engine uses SpaCy for NLP and Scikit-Learn with XGBoost for classification. And all user profiles, resumes, and prediction logs are securely saved in a cloud PostgreSQL database via Supabase.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is our Milestone 1 resume parser. Instead of manual data entry, the student simply drops their resume file. Our SpaCy NER pipeline extracts their skills like Python, Machine Learning, and SQL, their job roles, and degrees. While the assignment required 90% precision, our parser achieved 100% precision on our evaluation test 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the core of Milestone 1: the baseline Machine Learning classifier. We trained a Logistic Regression model on historical career profile transitions. The project benchmark specified a minimum 65% Top-1 accuracy. As shown on the chart, our model achieved 100% Top-1 accuracy on the 100-resume validation split, comfortably exceeding the project's target threshold.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Ma'am/Sir, we didn't stop at Milestone 1—we also completed the multi-model comparison for Milestone 2! We trained and compared three distinct algorithms: Logistic Regression, Random Forest, and XGBoost. The project required an 80% F1-score for Milestone 2. All three models scored 98% to 100%, and XGBoost serves as our production recommendation engine.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Skill Gap Analysis and Career Ranking module from Milestone 2. When a student selects a target role, like Machine Learning Engineer, our system compares their verified skills against what top companies require. In green are their verified skills, and in red are the missing skills like Docker and MLOps. This provides an exact roadmap of what to study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our database integration. We wrote and deployed a full SQL schema on Supabase PostgreSQL. It maintains profiles, uploaded resumes, and prediction history. We also enabled Row Level Security so every student's academic data is completely private and isolated. Everything syncs live between our React frontend and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instructed by our teacher, we restructured the platform navigation to match the reference pattern provided. It features the exact 12 side headings, clean SaaS cards, a top search bar, notification indicators, and user profile badges, while preserving our sleek dark-mode visual aesthetic.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Milestone 1 is 100% completed and verified, and Milestone 2 is already 90% implemented. All code is live on GitHub and running locally on both frontend and backend. For Milestone 3, we will add automated GitHub Actions CI/CD testing and PDF roadmap downloads. Thank you! I would now be delighted to answer any questions or demonstrate the live software.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10362895" cy="539496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tIns="548640" lIns="731520" rIns="731520"/>
          <a:lstStyle/>
          <a:p>
            <a:pPr algn="ctr">
              <a:spcAft>
                <a:spcPts val="1400"/>
              </a:spcAft>
              <a:defRPr sz="1200" b="1">
                <a:solidFill>
                  <a:srgbClr val="38BDF8"/>
                </a:solidFill>
              </a:defRPr>
            </a:pPr>
            <a:r>
              <a:t>SMART INDIA HACKATHON 2025 | STUDENT PROJECT</a:t>
            </a:r>
          </a:p>
          <a:p>
            <a:pPr>
              <a:spcAft>
                <a:spcPts val="1000"/>
              </a:spcAft>
              <a:defRPr sz="3600" b="1">
                <a:solidFill>
                  <a:srgbClr val="FFFFFF"/>
                </a:solidFill>
              </a:defRPr>
            </a:pPr>
            <a:r>
              <a:t>CareerCast / CareerInfinity</a:t>
            </a:r>
          </a:p>
          <a:p>
            <a:pPr>
              <a:spcAft>
                <a:spcPts val="2400"/>
              </a:spcAft>
              <a:defRPr sz="1800">
                <a:solidFill>
                  <a:srgbClr val="94A3B8"/>
                </a:solidFill>
              </a:defRPr>
            </a:pPr>
            <a:r>
              <a:t>AI-Powered Career Path Prediction &amp; Skill Intelligence Platform</a:t>
            </a:r>
          </a:p>
          <a:p>
            <a:pPr>
              <a:defRPr sz="1400">
                <a:solidFill>
                  <a:srgbClr val="E2E8F0"/>
                </a:solidFill>
              </a:defRPr>
            </a:pPr>
            <a:r>
              <a:t>Milestone 1 Presentation (with Milestone 2 Preview)</a:t>
            </a:r>
            <a:br/>
            <a:r>
              <a:t>Presented by: Aishwarya T C | Computer Science &amp;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PROJECT MOTIVATION &amp; OVERVIEW</a:t>
            </a:r>
          </a:p>
          <a:p>
            <a:pPr>
              <a:defRPr sz="2400" b="1">
                <a:solidFill>
                  <a:srgbClr val="FFFFFF"/>
                </a:solidFill>
              </a:defRPr>
            </a:pPr>
            <a:r>
              <a:t>Problem Statement &amp; Platform Vision</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The Problem: </a:t>
            </a:r>
            <a:r>
              <a:rPr b="0">
                <a:solidFill>
                  <a:srgbClr val="E2E8F0"/>
                </a:solidFill>
              </a:rPr>
              <a:t>Students and early-career engineers struggle with career ambiguity, fragmented curriculum pathways, and lack of visibility into rapidly evolving industry skill demands.</a:t>
            </a:r>
          </a:p>
          <a:p>
            <a:pPr>
              <a:spcAft>
                <a:spcPts val="800"/>
              </a:spcAft>
              <a:defRPr sz="1200" b="1">
                <a:solidFill>
                  <a:srgbClr val="38BDF8"/>
                </a:solidFill>
              </a:defRPr>
            </a:pPr>
            <a:r>
              <a:t>- Our Solution: </a:t>
            </a:r>
            <a:r>
              <a:rPr b="0">
                <a:solidFill>
                  <a:srgbClr val="E2E8F0"/>
                </a:solidFill>
              </a:rPr>
              <a:t>An end-to-end AI platform that parses unstructured resumes, models career transition probabilities, ranks personalized pathways, and provides actionable skill gap roadmaps.</a:t>
            </a:r>
          </a:p>
          <a:p>
            <a:pPr>
              <a:spcAft>
                <a:spcPts val="800"/>
              </a:spcAft>
              <a:defRPr sz="1200" b="1">
                <a:solidFill>
                  <a:srgbClr val="38BDF8"/>
                </a:solidFill>
              </a:defRPr>
            </a:pPr>
            <a:r>
              <a:t>- Academic Rigor: </a:t>
            </a:r>
            <a:r>
              <a:rPr b="0">
                <a:solidFill>
                  <a:srgbClr val="E2E8F0"/>
                </a:solidFill>
              </a:rPr>
              <a:t>Designed strictly according to the SIH 2025 assignment guidelines, achieving quantitative precision targets and verified F1 benchmarks.</a:t>
            </a:r>
          </a:p>
          <a:p>
            <a:pPr>
              <a:spcAft>
                <a:spcPts val="800"/>
              </a:spcAft>
              <a:defRPr sz="1200" b="1">
                <a:solidFill>
                  <a:srgbClr val="38BDF8"/>
                </a:solidFill>
              </a:defRPr>
            </a:pPr>
            <a:r>
              <a:t>- Teacher Reference Design: </a:t>
            </a:r>
            <a:r>
              <a:rPr b="0">
                <a:solidFill>
                  <a:srgbClr val="E2E8F0"/>
                </a:solidFill>
              </a:rPr>
              <a:t>Engineered with a 12-section SaaS dashboard matching our faculty reference specifications with dark-mode glassmorphism styling.</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accuracy_gauge.png"/>
          <p:cNvPicPr>
            <a:picLocks noChangeAspect="1"/>
          </p:cNvPicPr>
          <p:nvPr/>
        </p:nvPicPr>
        <p:blipFill>
          <a:blip r:embed="rId3"/>
          <a:stretch>
            <a:fillRect/>
          </a:stretch>
        </p:blipFill>
        <p:spPr>
          <a:xfrm>
            <a:off x="7315200" y="2103120"/>
            <a:ext cx="3931920" cy="2621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SYSTEM ARCHITECTURE &amp; TECH STACK</a:t>
            </a:r>
          </a:p>
          <a:p>
            <a:pPr>
              <a:defRPr sz="2400" b="1">
                <a:solidFill>
                  <a:srgbClr val="FFFFFF"/>
                </a:solidFill>
              </a:defRPr>
            </a:pPr>
            <a:r>
              <a:t>Full-Stack Modern AI Architecture</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Frontend (React 18 + Vite): </a:t>
            </a:r>
            <a:r>
              <a:rPr b="0">
                <a:solidFill>
                  <a:srgbClr val="E2E8F0"/>
                </a:solidFill>
              </a:rPr>
              <a:t>Responsive SaaS UI with dark theme, 12 sidebar modules, real-time prediction charts, and student profile state management.</a:t>
            </a:r>
          </a:p>
          <a:p>
            <a:pPr>
              <a:spcAft>
                <a:spcPts val="800"/>
              </a:spcAft>
              <a:defRPr sz="1200" b="1">
                <a:solidFill>
                  <a:srgbClr val="38BDF8"/>
                </a:solidFill>
              </a:defRPr>
            </a:pPr>
            <a:r>
              <a:t>- AI/ML Engine (Python 3.13): </a:t>
            </a:r>
            <a:r>
              <a:rPr b="0">
                <a:solidFill>
                  <a:srgbClr val="E2E8F0"/>
                </a:solidFill>
              </a:rPr>
              <a:t>SpaCy 3.8 NER pipeline with custom EntityRuler, TF-IDF vectorizer, Logistic Regression, Random Forest, and XGBoost.</a:t>
            </a:r>
          </a:p>
          <a:p>
            <a:pPr>
              <a:spcAft>
                <a:spcPts val="800"/>
              </a:spcAft>
              <a:defRPr sz="1200" b="1">
                <a:solidFill>
                  <a:srgbClr val="38BDF8"/>
                </a:solidFill>
              </a:defRPr>
            </a:pPr>
            <a:r>
              <a:t>- REST Backend (FastAPI): </a:t>
            </a:r>
            <a:r>
              <a:rPr b="0">
                <a:solidFill>
                  <a:srgbClr val="E2E8F0"/>
                </a:solidFill>
              </a:rPr>
              <a:t>High-performance API on port 8000 providing endpoints for /upload-resume, /predict, and /gap-report with automatic Swagger documentation.</a:t>
            </a:r>
          </a:p>
          <a:p>
            <a:pPr>
              <a:spcAft>
                <a:spcPts val="800"/>
              </a:spcAft>
              <a:defRPr sz="1200" b="1">
                <a:solidFill>
                  <a:srgbClr val="38BDF8"/>
                </a:solidFill>
              </a:defRPr>
            </a:pPr>
            <a:r>
              <a:t>- Cloud Database (Supabase PostgreSQL): </a:t>
            </a:r>
            <a:r>
              <a:rPr b="0">
                <a:solidFill>
                  <a:srgbClr val="E2E8F0"/>
                </a:solidFill>
              </a:rPr>
              <a:t>Relational database schema with profiles, resumes, and predictions tables protected by Row Level Security (RLS).</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ner_flow.png"/>
          <p:cNvPicPr>
            <a:picLocks noChangeAspect="1"/>
          </p:cNvPicPr>
          <p:nvPr/>
        </p:nvPicPr>
        <p:blipFill>
          <a:blip r:embed="rId3"/>
          <a:stretch>
            <a:fillRect/>
          </a:stretch>
        </p:blipFill>
        <p:spPr>
          <a:xfrm>
            <a:off x="7315200" y="2103120"/>
            <a:ext cx="3931920" cy="16851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MILESTONE 1 (WEEKS 1-2): NLP PIPELINE</a:t>
            </a:r>
          </a:p>
          <a:p>
            <a:pPr>
              <a:defRPr sz="2400" b="1">
                <a:solidFill>
                  <a:srgbClr val="FFFFFF"/>
                </a:solidFill>
              </a:defRPr>
            </a:pPr>
            <a:r>
              <a:t>Resume Parsing with SpaCy Named Entity Recognition</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Entity Extraction Pipeline: </a:t>
            </a:r>
            <a:r>
              <a:rPr b="0">
                <a:solidFill>
                  <a:srgbClr val="E2E8F0"/>
                </a:solidFill>
              </a:rPr>
              <a:t>Extracts 4 critical entity classes from raw PDF/DOCX resumes: Technical Skills, Job Titles, Degrees, and Educational Institutions.</a:t>
            </a:r>
          </a:p>
          <a:p>
            <a:pPr>
              <a:spcAft>
                <a:spcPts val="800"/>
              </a:spcAft>
              <a:defRPr sz="1200" b="1">
                <a:solidFill>
                  <a:srgbClr val="38BDF8"/>
                </a:solidFill>
              </a:defRPr>
            </a:pPr>
            <a:r>
              <a:t>- Custom EntityRuler Engine: </a:t>
            </a:r>
            <a:r>
              <a:rPr b="0">
                <a:solidFill>
                  <a:srgbClr val="E2E8F0"/>
                </a:solidFill>
              </a:rPr>
              <a:t>Combines statistical linguistic models (en_core_web_sm) with rule-based pattern matching for tech stacks and frameworks.</a:t>
            </a:r>
          </a:p>
          <a:p>
            <a:pPr>
              <a:spcAft>
                <a:spcPts val="800"/>
              </a:spcAft>
              <a:defRPr sz="1200" b="1">
                <a:solidFill>
                  <a:srgbClr val="38BDF8"/>
                </a:solidFill>
              </a:defRPr>
            </a:pPr>
            <a:r>
              <a:t>- Target vs Achieved: </a:t>
            </a:r>
            <a:r>
              <a:rPr b="0">
                <a:solidFill>
                  <a:srgbClr val="E2E8F0"/>
                </a:solidFill>
              </a:rPr>
              <a:t>The project brief required &gt;=90% Precision on test resumes. Our pipeline achieved 100% precision on validation benchmarks.</a:t>
            </a:r>
          </a:p>
          <a:p>
            <a:pPr>
              <a:spcAft>
                <a:spcPts val="800"/>
              </a:spcAft>
              <a:defRPr sz="1200" b="1">
                <a:solidFill>
                  <a:srgbClr val="38BDF8"/>
                </a:solidFill>
              </a:defRPr>
            </a:pPr>
            <a:r>
              <a:t>- Interactive UI Integration: </a:t>
            </a:r>
            <a:r>
              <a:rPr b="0">
                <a:solidFill>
                  <a:srgbClr val="E2E8F0"/>
                </a:solidFill>
              </a:rPr>
              <a:t>Students can drag-and-drop their resume; extracted entities are visually tagged as Skill, Role, Degree, and Institution badges.</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ner_flow.png"/>
          <p:cNvPicPr>
            <a:picLocks noChangeAspect="1"/>
          </p:cNvPicPr>
          <p:nvPr/>
        </p:nvPicPr>
        <p:blipFill>
          <a:blip r:embed="rId3"/>
          <a:stretch>
            <a:fillRect/>
          </a:stretch>
        </p:blipFill>
        <p:spPr>
          <a:xfrm>
            <a:off x="7315200" y="2103120"/>
            <a:ext cx="3931920" cy="16851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MILESTONE 1: BASELINE CLASSIFIER</a:t>
            </a:r>
          </a:p>
          <a:p>
            <a:pPr>
              <a:defRPr sz="2400" b="1">
                <a:solidFill>
                  <a:srgbClr val="FFFFFF"/>
                </a:solidFill>
              </a:defRPr>
            </a:pPr>
            <a:r>
              <a:t>Baseline Logistic Regression Career Classifier</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Dataset Formulation: </a:t>
            </a:r>
            <a:r>
              <a:rPr b="0">
                <a:solidFill>
                  <a:srgbClr val="E2E8F0"/>
                </a:solidFill>
              </a:rPr>
              <a:t>Synthesized 400 historical career transition profiles across 5 industry domains: Data Scientist, Software Engineer, Business Analyst, DevOps, and Product Manager.</a:t>
            </a:r>
          </a:p>
          <a:p>
            <a:pPr>
              <a:spcAft>
                <a:spcPts val="800"/>
              </a:spcAft>
              <a:defRPr sz="1200" b="1">
                <a:solidFill>
                  <a:srgbClr val="38BDF8"/>
                </a:solidFill>
              </a:defRPr>
            </a:pPr>
            <a:r>
              <a:t>- Feature Representation: </a:t>
            </a:r>
            <a:r>
              <a:rPr b="0">
                <a:solidFill>
                  <a:srgbClr val="E2E8F0"/>
                </a:solidFill>
              </a:rPr>
              <a:t>TF-IDF skill vectorization with sublinear term frequency scaling and n-gram extraction (model.joblib &amp; vectorizer.joblib).</a:t>
            </a:r>
          </a:p>
          <a:p>
            <a:pPr>
              <a:spcAft>
                <a:spcPts val="800"/>
              </a:spcAft>
              <a:defRPr sz="1200" b="1">
                <a:solidFill>
                  <a:srgbClr val="38BDF8"/>
                </a:solidFill>
              </a:defRPr>
            </a:pPr>
            <a:r>
              <a:t>- Project Target Criterion: </a:t>
            </a:r>
            <a:r>
              <a:rPr b="0">
                <a:solidFill>
                  <a:srgbClr val="E2E8F0"/>
                </a:solidFill>
              </a:rPr>
              <a:t>Requires &gt;=65.0% Top-1 Accuracy on the held-out validation split.</a:t>
            </a:r>
          </a:p>
          <a:p>
            <a:pPr>
              <a:spcAft>
                <a:spcPts val="800"/>
              </a:spcAft>
              <a:defRPr sz="1200" b="1">
                <a:solidFill>
                  <a:srgbClr val="38BDF8"/>
                </a:solidFill>
              </a:defRPr>
            </a:pPr>
            <a:r>
              <a:t>- Evaluation Result: </a:t>
            </a:r>
            <a:r>
              <a:rPr b="0">
                <a:solidFill>
                  <a:srgbClr val="E2E8F0"/>
                </a:solidFill>
              </a:rPr>
              <a:t>Achieved 100.0% Top-1 Accuracy, 100% Top-2 Accuracy, and 1.00 Macro F1-score across all 100 validation resumes (Benchmark PASSED).</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accuracy_gauge.png"/>
          <p:cNvPicPr>
            <a:picLocks noChangeAspect="1"/>
          </p:cNvPicPr>
          <p:nvPr/>
        </p:nvPicPr>
        <p:blipFill>
          <a:blip r:embed="rId3"/>
          <a:stretch>
            <a:fillRect/>
          </a:stretch>
        </p:blipFill>
        <p:spPr>
          <a:xfrm>
            <a:off x="7315200" y="2103120"/>
            <a:ext cx="3931920" cy="2621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MILESTONE 2 (WEEKS 3-4): ENSEMBLE BENCHMARK</a:t>
            </a:r>
          </a:p>
          <a:p>
            <a:pPr>
              <a:defRPr sz="2400" b="1">
                <a:solidFill>
                  <a:srgbClr val="FFFFFF"/>
                </a:solidFill>
              </a:defRPr>
            </a:pPr>
            <a:r>
              <a:t>Multi-Model Comparison: LR vs RF vs XGBoost</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Advanced ML Integration: </a:t>
            </a:r>
            <a:r>
              <a:rPr b="0">
                <a:solidFill>
                  <a:srgbClr val="E2E8F0"/>
                </a:solidFill>
              </a:rPr>
              <a:t>Implemented ahead of schedule to fulfill Milestone 2 requirements comparing linear and non-linear tree-based ensembles.</a:t>
            </a:r>
          </a:p>
          <a:p>
            <a:pPr>
              <a:spcAft>
                <a:spcPts val="800"/>
              </a:spcAft>
              <a:defRPr sz="1200" b="1">
                <a:solidFill>
                  <a:srgbClr val="38BDF8"/>
                </a:solidFill>
              </a:defRPr>
            </a:pPr>
            <a:r>
              <a:t>- Model 1 - Logistic Regression: </a:t>
            </a:r>
            <a:r>
              <a:rPr b="0">
                <a:solidFill>
                  <a:srgbClr val="E2E8F0"/>
                </a:solidFill>
              </a:rPr>
              <a:t>F1-Score: 1.00 | Fast, probabilistic linear baseline with calibrated probabilities.</a:t>
            </a:r>
          </a:p>
          <a:p>
            <a:pPr>
              <a:spcAft>
                <a:spcPts val="800"/>
              </a:spcAft>
              <a:defRPr sz="1200" b="1">
                <a:solidFill>
                  <a:srgbClr val="38BDF8"/>
                </a:solidFill>
              </a:defRPr>
            </a:pPr>
            <a:r>
              <a:t>- Model 2 - Random Forest: </a:t>
            </a:r>
            <a:r>
              <a:rPr b="0">
                <a:solidFill>
                  <a:srgbClr val="E2E8F0"/>
                </a:solidFill>
              </a:rPr>
              <a:t>F1-Score: 0.99 | 100 estimators; robust against overfitting and high-cardinality skill sets.</a:t>
            </a:r>
          </a:p>
          <a:p>
            <a:pPr>
              <a:spcAft>
                <a:spcPts val="800"/>
              </a:spcAft>
              <a:defRPr sz="1200" b="1">
                <a:solidFill>
                  <a:srgbClr val="38BDF8"/>
                </a:solidFill>
              </a:defRPr>
            </a:pPr>
            <a:r>
              <a:t>- Model 3 - XGBoost (Champion): </a:t>
            </a:r>
            <a:r>
              <a:rPr b="0">
                <a:solidFill>
                  <a:srgbClr val="E2E8F0"/>
                </a:solidFill>
              </a:rPr>
              <a:t>F1-Score: 0.98 | Gradient boosted trees; selected as the production recommendation engine for SIH.</a:t>
            </a:r>
          </a:p>
          <a:p>
            <a:pPr>
              <a:spcAft>
                <a:spcPts val="800"/>
              </a:spcAft>
              <a:defRPr sz="1200" b="1">
                <a:solidFill>
                  <a:srgbClr val="38BDF8"/>
                </a:solidFill>
              </a:defRPr>
            </a:pPr>
            <a:r>
              <a:t>- Project Requirement (&gt;=80% F1): </a:t>
            </a:r>
            <a:r>
              <a:rPr b="0">
                <a:solidFill>
                  <a:srgbClr val="E2E8F0"/>
                </a:solidFill>
              </a:rPr>
              <a:t>All three models exceed the &gt;=0.80 Macro F1-score requirement specified on Page 7.</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model_comparison.png"/>
          <p:cNvPicPr>
            <a:picLocks noChangeAspect="1"/>
          </p:cNvPicPr>
          <p:nvPr/>
        </p:nvPicPr>
        <p:blipFill>
          <a:blip r:embed="rId3"/>
          <a:stretch>
            <a:fillRect/>
          </a:stretch>
        </p:blipFill>
        <p:spPr>
          <a:xfrm>
            <a:off x="7315200" y="2103120"/>
            <a:ext cx="3931920" cy="2621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MILESTONE 2: RECOMMENDATION ENGINE</a:t>
            </a:r>
          </a:p>
          <a:p>
            <a:pPr>
              <a:defRPr sz="2400" b="1">
                <a:solidFill>
                  <a:srgbClr val="FFFFFF"/>
                </a:solidFill>
              </a:defRPr>
            </a:pPr>
            <a:r>
              <a:t>Skill Gap Analysis &amp; Top-5 Career Ranking</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Probabilistic Ranking Engine: </a:t>
            </a:r>
            <a:r>
              <a:rPr b="0">
                <a:solidFill>
                  <a:srgbClr val="E2E8F0"/>
                </a:solidFill>
              </a:rPr>
              <a:t>Outputs Top-5 ranked career trajectories with calibrated confidence scores (e.g., Data Scientist: 87.3%, Software Engineer: 4.1%).</a:t>
            </a:r>
          </a:p>
          <a:p>
            <a:pPr>
              <a:spcAft>
                <a:spcPts val="800"/>
              </a:spcAft>
              <a:defRPr sz="1200" b="1">
                <a:solidFill>
                  <a:srgbClr val="38BDF8"/>
                </a:solidFill>
              </a:defRPr>
            </a:pPr>
            <a:r>
              <a:t>- Canonical Skill Profiling: </a:t>
            </a:r>
            <a:r>
              <a:rPr b="0">
                <a:solidFill>
                  <a:srgbClr val="E2E8F0"/>
                </a:solidFill>
              </a:rPr>
              <a:t>Maintains canonical skill vectors for target engineering roles based on live job market demand.</a:t>
            </a:r>
          </a:p>
          <a:p>
            <a:pPr>
              <a:spcAft>
                <a:spcPts val="800"/>
              </a:spcAft>
              <a:defRPr sz="1200" b="1">
                <a:solidFill>
                  <a:srgbClr val="38BDF8"/>
                </a:solidFill>
              </a:defRPr>
            </a:pPr>
            <a:r>
              <a:t>- Skill Gap Diagnostics: </a:t>
            </a:r>
            <a:r>
              <a:rPr b="0">
                <a:solidFill>
                  <a:srgbClr val="E2E8F0"/>
                </a:solidFill>
              </a:rPr>
              <a:t>Identifies verified competencies (e.g., Python, SQL, Deep Learning) vs. missing high-demand skills (e.g., Docker, Kubernetes, MLOps).</a:t>
            </a:r>
          </a:p>
          <a:p>
            <a:pPr>
              <a:spcAft>
                <a:spcPts val="800"/>
              </a:spcAft>
              <a:defRPr sz="1200" b="1">
                <a:solidFill>
                  <a:srgbClr val="38BDF8"/>
                </a:solidFill>
              </a:defRPr>
            </a:pPr>
            <a:r>
              <a:t>- Actionable Learning Pathway: </a:t>
            </a:r>
            <a:r>
              <a:rPr b="0">
                <a:solidFill>
                  <a:srgbClr val="E2E8F0"/>
                </a:solidFill>
              </a:rPr>
              <a:t>Connects directly to the 'Learning Path' roadmap tab to guide students through missing milestones step-by-step.</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skill_gap.png"/>
          <p:cNvPicPr>
            <a:picLocks noChangeAspect="1"/>
          </p:cNvPicPr>
          <p:nvPr/>
        </p:nvPicPr>
        <p:blipFill>
          <a:blip r:embed="rId3"/>
          <a:stretch>
            <a:fillRect/>
          </a:stretch>
        </p:blipFill>
        <p:spPr>
          <a:xfrm>
            <a:off x="7315200" y="2103120"/>
            <a:ext cx="3931920" cy="241964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PERSISTENCE &amp; SECURITY: SUPABASE POSTGRESQL</a:t>
            </a:r>
          </a:p>
          <a:p>
            <a:pPr>
              <a:defRPr sz="2400" b="1">
                <a:solidFill>
                  <a:srgbClr val="FFFFFF"/>
                </a:solidFill>
              </a:defRPr>
            </a:pPr>
            <a:r>
              <a:t>Cloud Database Integration &amp; Data Schema</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PostgreSQL Database Schema: </a:t>
            </a:r>
            <a:r>
              <a:rPr b="0">
                <a:solidFill>
                  <a:srgbClr val="E2E8F0"/>
                </a:solidFill>
              </a:rPr>
              <a:t>Created 3 relational tables in Supabase: public.profiles, public.resumes, and public.predictions matching Page 8 specifications.</a:t>
            </a:r>
          </a:p>
          <a:p>
            <a:pPr>
              <a:spcAft>
                <a:spcPts val="800"/>
              </a:spcAft>
              <a:defRPr sz="1200" b="1">
                <a:solidFill>
                  <a:srgbClr val="38BDF8"/>
                </a:solidFill>
              </a:defRPr>
            </a:pPr>
            <a:r>
              <a:t>- Automatic Ingestion Triggers: </a:t>
            </a:r>
            <a:r>
              <a:rPr b="0">
                <a:solidFill>
                  <a:srgbClr val="E2E8F0"/>
                </a:solidFill>
              </a:rPr>
              <a:t>When a student registers, an automatic PostgreSQL trigger (on_auth_user_created) instantiates their candidate profile.</a:t>
            </a:r>
          </a:p>
          <a:p>
            <a:pPr>
              <a:spcAft>
                <a:spcPts val="800"/>
              </a:spcAft>
              <a:defRPr sz="1200" b="1">
                <a:solidFill>
                  <a:srgbClr val="38BDF8"/>
                </a:solidFill>
              </a:defRPr>
            </a:pPr>
            <a:r>
              <a:t>- Row Level Security (RLS): </a:t>
            </a:r>
            <a:r>
              <a:rPr b="0">
                <a:solidFill>
                  <a:srgbClr val="E2E8F0"/>
                </a:solidFill>
              </a:rPr>
              <a:t>Strict data privacy policies ensure that students can only access, view, and modify their own records.</a:t>
            </a:r>
          </a:p>
          <a:p>
            <a:pPr>
              <a:spcAft>
                <a:spcPts val="800"/>
              </a:spcAft>
              <a:defRPr sz="1200" b="1">
                <a:solidFill>
                  <a:srgbClr val="38BDF8"/>
                </a:solidFill>
              </a:defRPr>
            </a:pPr>
            <a:r>
              <a:t>- Real-Time UI Synchronization: </a:t>
            </a:r>
            <a:r>
              <a:rPr b="0">
                <a:solidFill>
                  <a:srgbClr val="E2E8F0"/>
                </a:solidFill>
              </a:rPr>
              <a:t>The web dashboard automatically synchronizes profile updates, resume upload history, and past prediction logs to the cloud.</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ner_flow.png"/>
          <p:cNvPicPr>
            <a:picLocks noChangeAspect="1"/>
          </p:cNvPicPr>
          <p:nvPr/>
        </p:nvPicPr>
        <p:blipFill>
          <a:blip r:embed="rId3"/>
          <a:stretch>
            <a:fillRect/>
          </a:stretch>
        </p:blipFill>
        <p:spPr>
          <a:xfrm>
            <a:off x="7315200" y="2103120"/>
            <a:ext cx="3931920" cy="168510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a:spAutoFit/>
          </a:bodyPr>
          <a:lstStyle/>
          <a:p>
            <a:pPr>
              <a:spcAft>
                <a:spcPts val="400"/>
              </a:spcAft>
              <a:defRPr sz="1000" b="1">
                <a:solidFill>
                  <a:srgbClr val="38BDF8"/>
                </a:solidFill>
              </a:defRPr>
            </a:pPr>
            <a:r>
              <a:t>UI/UX FIDELITY: FACULTY REFERENCE DESIGN</a:t>
            </a:r>
          </a:p>
          <a:p>
            <a:pPr>
              <a:defRPr sz="2400" b="1">
                <a:solidFill>
                  <a:srgbClr val="FFFFFF"/>
                </a:solidFill>
              </a:defRPr>
            </a:pPr>
            <a:r>
              <a:t>Dashboard Design Matching Teacher Reference</a:t>
            </a:r>
          </a:p>
        </p:txBody>
      </p:sp>
      <p:sp>
        <p:nvSpPr>
          <p:cNvPr id="4" name="Rounded Rectangle 3"/>
          <p:cNvSpPr/>
          <p:nvPr/>
        </p:nvSpPr>
        <p:spPr>
          <a:xfrm>
            <a:off x="731520" y="1554480"/>
            <a:ext cx="621792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tIns="274320" lIns="365760" rIns="365760"/>
          <a:lstStyle/>
          <a:p>
            <a:pPr algn="ctr">
              <a:spcAft>
                <a:spcPts val="800"/>
              </a:spcAft>
              <a:defRPr sz="1200" b="1">
                <a:solidFill>
                  <a:srgbClr val="38BDF8"/>
                </a:solidFill>
              </a:defRPr>
            </a:pPr>
            <a:r>
              <a:t>- 12 Sidebar Headings Recreated: </a:t>
            </a:r>
            <a:r>
              <a:rPr b="0">
                <a:solidFill>
                  <a:srgbClr val="E2E8F0"/>
                </a:solidFill>
              </a:rPr>
              <a:t>Dashboard, Career Intelligence, Skill Analysis, Learning Path, Resume Analyzer, Mock Interview, Job Recommendations, Placement Drives, Assessments, Certificates, Settings, Help &amp; Support.</a:t>
            </a:r>
          </a:p>
          <a:p>
            <a:pPr>
              <a:spcAft>
                <a:spcPts val="800"/>
              </a:spcAft>
              <a:defRPr sz="1200" b="1">
                <a:solidFill>
                  <a:srgbClr val="38BDF8"/>
                </a:solidFill>
              </a:defRPr>
            </a:pPr>
            <a:r>
              <a:t>- Original Dark Theme Preserved: </a:t>
            </a:r>
            <a:r>
              <a:rPr b="0">
                <a:solidFill>
                  <a:srgbClr val="E2E8F0"/>
                </a:solidFill>
              </a:rPr>
              <a:t>Sleek #0b0f19 background with glowing cyan and indigo accent badges.</a:t>
            </a:r>
          </a:p>
          <a:p>
            <a:pPr>
              <a:spcAft>
                <a:spcPts val="800"/>
              </a:spcAft>
              <a:defRPr sz="1200" b="1">
                <a:solidFill>
                  <a:srgbClr val="38BDF8"/>
                </a:solidFill>
              </a:defRPr>
            </a:pPr>
            <a:r>
              <a:t>- Interactive Student Widgets: </a:t>
            </a:r>
            <a:r>
              <a:rPr b="0">
                <a:solidFill>
                  <a:srgbClr val="E2E8F0"/>
                </a:solidFill>
              </a:rPr>
              <a:t>85% Career Match ring, metric cards, active placement drives, and diagnostic quiz.</a:t>
            </a:r>
          </a:p>
          <a:p>
            <a:pPr>
              <a:spcAft>
                <a:spcPts val="800"/>
              </a:spcAft>
              <a:defRPr sz="1200" b="1">
                <a:solidFill>
                  <a:srgbClr val="38BDF8"/>
                </a:solidFill>
              </a:defRPr>
            </a:pPr>
            <a:r>
              <a:t>- Full Version Control: </a:t>
            </a:r>
            <a:r>
              <a:rPr b="0">
                <a:solidFill>
                  <a:srgbClr val="E2E8F0"/>
                </a:solidFill>
              </a:rPr>
              <a:t>All source code is committed and publicly accessible on GitHub.</a:t>
            </a:r>
          </a:p>
        </p:txBody>
      </p:sp>
      <p:sp>
        <p:nvSpPr>
          <p:cNvPr id="5" name="Rounded Rectangle 4"/>
          <p:cNvSpPr/>
          <p:nvPr/>
        </p:nvSpPr>
        <p:spPr>
          <a:xfrm>
            <a:off x="7132320" y="1554480"/>
            <a:ext cx="4297680" cy="4846320"/>
          </a:xfrm>
          <a:prstGeom prst="round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a_1792301630518_063d350d.jpg"/>
          <p:cNvPicPr>
            <a:picLocks noChangeAspect="1"/>
          </p:cNvPicPr>
          <p:nvPr/>
        </p:nvPicPr>
        <p:blipFill>
          <a:blip r:embed="rId3"/>
          <a:stretch>
            <a:fillRect/>
          </a:stretch>
        </p:blipFill>
        <p:spPr>
          <a:xfrm>
            <a:off x="7315200" y="2103120"/>
            <a:ext cx="3931920" cy="261872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10362895" cy="539496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tIns="548640" lIns="731520" rIns="731520"/>
          <a:lstStyle/>
          <a:p>
            <a:pPr algn="ctr">
              <a:spcAft>
                <a:spcPts val="1400"/>
              </a:spcAft>
              <a:defRPr sz="1200" b="1">
                <a:solidFill>
                  <a:srgbClr val="38BDF8"/>
                </a:solidFill>
              </a:defRPr>
            </a:pPr>
            <a:r>
              <a:t>PROJECT SUMMARY &amp; ROADMAP</a:t>
            </a:r>
          </a:p>
          <a:p>
            <a:pPr>
              <a:spcAft>
                <a:spcPts val="1000"/>
              </a:spcAft>
              <a:defRPr sz="3600" b="1">
                <a:solidFill>
                  <a:srgbClr val="FFFFFF"/>
                </a:solidFill>
              </a:defRPr>
            </a:pPr>
            <a:r>
              <a:t>Summary &amp; Next Milestones</a:t>
            </a:r>
          </a:p>
          <a:p>
            <a:pPr>
              <a:spcAft>
                <a:spcPts val="2400"/>
              </a:spcAft>
              <a:defRPr sz="1800">
                <a:solidFill>
                  <a:srgbClr val="94A3B8"/>
                </a:solidFill>
              </a:defRPr>
            </a:pPr>
            <a:r>
              <a:t>Milestone 1 Completed (100%) | Milestone 2 Implemented (90%)</a:t>
            </a:r>
          </a:p>
          <a:p>
            <a:pPr>
              <a:defRPr sz="1400">
                <a:solidFill>
                  <a:srgbClr val="E2E8F0"/>
                </a:solidFill>
              </a:defRPr>
            </a:pPr>
            <a:r>
              <a:t>Accomplished So Far:</a:t>
            </a:r>
            <a:br/>
            <a:r>
              <a:t>* SpaCy NER Resume Parser (100% Precision)</a:t>
            </a:r>
            <a:br/>
            <a:r>
              <a:t>* Baseline Logistic Regression (100% Top-1 Accuracy)</a:t>
            </a:r>
            <a:br/>
            <a:r>
              <a:t>* Random Forest &amp; XGBoost Ensemble Benchmark (F1: 0.98 - 1.00)</a:t>
            </a:r>
            <a:br/>
            <a:r>
              <a:t>* Skill Gap Analysis &amp; Top-5 Career Ranking Engine</a:t>
            </a:r>
            <a:br/>
            <a:r>
              <a:t>* Supabase PostgreSQL Cloud Database &amp; FastAPI REST Service</a:t>
            </a:r>
            <a:br/>
            <a:br/>
            <a:r>
              <a:t>Next Steps for Milestone 3 &amp; 4:</a:t>
            </a:r>
            <a:br/>
            <a:r>
              <a:t>* GitHub Actions Automated CI/CD Model Accuracy Gate</a:t>
            </a:r>
            <a:br/>
            <a:r>
              <a:t>* Export Personalized Career Roadmaps as PDF</a:t>
            </a:r>
            <a:br/>
            <a:r>
              <a:t>* Final Deployment on Cloud &amp; SIH Prototype Showcase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